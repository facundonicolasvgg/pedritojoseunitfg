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2011680" cy="3175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8A3E"/>
                </a:solidFill>
                <a:latin typeface="Calibri"/>
              </a:rPr>
              <a:t>TRABAJO FIN DE GRADO  ·  GRADO EN HISTORIA DEL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Más allá del documental de arte: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500" b="0" i="1">
                <a:solidFill>
                  <a:srgbClr val="F4F0E9"/>
                </a:solidFill>
                <a:latin typeface="Georgia"/>
              </a:rPr>
              <a:t>ensayo fílmico y crítica anticolonial en</a:t>
            </a:r>
          </a:p>
          <a:p>
            <a:pPr algn="l"/>
            <a:r>
              <a:rPr sz="3000" b="1" i="1">
                <a:solidFill>
                  <a:srgbClr val="C08A3E"/>
                </a:solidFill>
                <a:latin typeface="Georgia"/>
              </a:rPr>
              <a:t>Las estatuas también mueren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Pedro José Díaz Bravo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645C"/>
                </a:solidFill>
                <a:latin typeface="Calibri"/>
              </a:rPr>
              <a:t>Bajo la dirección de   </a:t>
            </a:r>
            <a:r>
              <a:rPr sz="1300" b="0" i="0">
                <a:solidFill>
                  <a:srgbClr val="F4F0E9"/>
                </a:solidFill>
                <a:latin typeface="Calibri"/>
              </a:rPr>
              <a:t>Dr. José Javier Aliaga Cárceles   ·   D. José Ramón García Cañizares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4F0E9"/>
                </a:solidFill>
                <a:latin typeface="Calibri"/>
              </a:rPr>
              <a:t>Universidad de Murcia · Facultad de Letras</a:t>
            </a:r>
            <a:r>
              <a:rPr sz="1200" b="0" i="0">
                <a:solidFill>
                  <a:srgbClr val="6B645C"/>
                </a:solidFill>
                <a:latin typeface="Calibri"/>
              </a:rPr>
              <a:t>      Curso 2025-2026 · Convocatoria de junio-julio</a:t>
            </a:r>
          </a:p>
          <a:p>
            <a:pPr algn="l"/>
            <a:r>
              <a:rPr sz="1100" b="0" i="0">
                <a:solidFill>
                  <a:srgbClr val="C08A3E"/>
                </a:solidFill>
                <a:latin typeface="Calibri"/>
              </a:rPr>
              <a:t>Departamento de Historia del Arte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3035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INTRODUCCIÓN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ESTADO DE LA CUESTIÓN Y JUSTIFICACIÓN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OBJETIVOS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METODOLOGÍA APLICADA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CONTENIDO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6B645C"/>
                </a:solidFill>
                <a:latin typeface="Calibri"/>
              </a:rPr>
              <a:t>        1.  El documental de arte y su institucionalización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6B645C"/>
                </a:solidFill>
                <a:latin typeface="Calibri"/>
              </a:rPr>
              <a:t>        2.  El colonialismo africano y su manifiesto en el arte</a:t>
            </a:r>
          </a:p>
          <a:p>
            <a:pPr lvl="1">
              <a:spcAft>
                <a:spcPts val="300"/>
              </a:spcAft>
            </a:pPr>
            <a:r>
              <a:rPr sz="1500">
                <a:solidFill>
                  <a:srgbClr val="6B645C"/>
                </a:solidFill>
                <a:latin typeface="Calibri"/>
              </a:rPr>
              <a:t>        3.  Las estatuas también mueren (1953)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CONCLUSIONES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C08A3E"/>
                </a:solidFill>
              </a:rPr>
              <a:t>▪  </a:t>
            </a:r>
            <a:r>
              <a:rPr sz="1900" b="1">
                <a:solidFill>
                  <a:srgbClr val="2A2724"/>
                </a:solidFill>
                <a:latin typeface="Calibri"/>
              </a:rPr>
              <a:t>REFERENCIAS BIBLIOGRÁFICAS Y DOCUMENTALES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Introducción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6400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El documental de arte </a:t>
            </a:r>
            <a:r>
              <a:rPr sz="1600">
                <a:solidFill>
                  <a:srgbClr val="2A2724"/>
                </a:solidFill>
                <a:latin typeface="Calibri"/>
              </a:rPr>
              <a:t>trasciende la mera documentación, catalogación y exposición de obras: es una herramienta crítica que aborda lo geográfico, lo social y lo político.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«Edad de oro» de posguerra: </a:t>
            </a:r>
            <a:r>
              <a:rPr sz="1600">
                <a:solidFill>
                  <a:srgbClr val="2A2724"/>
                </a:solidFill>
                <a:latin typeface="Calibri"/>
              </a:rPr>
              <a:t>tras la 2.ª Guerra Mundial el género apuesta por el conocimiento, la conservación y la sensibilización patrimonial.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Función educativa y ética: </a:t>
            </a:r>
            <a:r>
              <a:rPr sz="1600">
                <a:solidFill>
                  <a:srgbClr val="2A2724"/>
                </a:solidFill>
                <a:latin typeface="Calibri"/>
              </a:rPr>
              <a:t>divulgación de las obras y formación cultural de los públicos.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C08A3E"/>
                </a:solidFill>
                <a:latin typeface="Calibri"/>
              </a:rPr>
              <a:t>—  </a:t>
            </a:r>
            <a:r>
              <a:rPr sz="1600" b="1">
                <a:solidFill>
                  <a:srgbClr val="2A2724"/>
                </a:solidFill>
                <a:latin typeface="Calibri"/>
              </a:rPr>
              <a:t>Caso de estudio: </a:t>
            </a:r>
            <a:r>
              <a:rPr sz="1600">
                <a:solidFill>
                  <a:srgbClr val="2A2724"/>
                </a:solidFill>
                <a:latin typeface="Calibri"/>
              </a:rPr>
              <a:t>Las estatuas también mueren (1953), de Alain Resnais y Chris Marker.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600200"/>
            <a:ext cx="4206240" cy="425196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600200"/>
            <a:ext cx="128016" cy="42519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8288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8A3E"/>
                </a:solidFill>
                <a:latin typeface="Calibri"/>
              </a:rPr>
              <a:t>HIPÓTESIS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331720"/>
            <a:ext cx="3657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 i="1">
                <a:solidFill>
                  <a:srgbClr val="F4F0E9"/>
                </a:solidFill>
                <a:latin typeface="Calibri"/>
              </a:rPr>
              <a:t>Las estatuas también mueren no se limita a las convenciones del documental de arte de su contexto: las trasciende para configurarse como un ensayo fílmico de carácter crítico, que articula una denuncia de la descontextualización y apropiación del arte africano en el marco del colonialismo.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600" b="1" i="0">
                <a:solidFill>
                  <a:srgbClr val="2A2724"/>
                </a:solidFill>
                <a:latin typeface="Georgia"/>
              </a:rPr>
              <a:t>Estado de la cuestión y justificación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A5236"/>
                </a:solidFill>
                <a:latin typeface="Calibri"/>
              </a:rPr>
              <a:t>Un objeto de estudio interdisciplinar: historia del arte y cultura visual, sociología, etnografía, historia y geopolítica.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El documental de arte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00400"/>
            <a:ext cx="35204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C. Fernández Cuenca — 30 años de documental de arte en España (1967).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J. J. Aliaga Cárceles — La revista Imágenes y la visión documental de NO-DO (2022).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G. García Fernández (Peydró) — El cine sobre arte (cine-ensayo).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69748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26974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África y colonialismo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3200400"/>
            <a:ext cx="35204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3401568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R. Hamery — Les films sur l'art d'Afrique noire (1945-1961).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Ceamanos &amp; Kabunda — El Reparto de África.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Sarr &amp; Savoy — The Restitution of African Cultural Heritage (2018).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697480"/>
            <a:ext cx="3520440" cy="5029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26974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El film y sus directores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3200400"/>
            <a:ext cx="35204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59" y="3401568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G. García Fernández — La piel bajo las máscaras (Les Statues...).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N. M. Alter — Chris Marker (2006).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A. Cortijo Talavera — los documentales de Alain Resnais.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Objetivos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Analizar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el papel de Las estatuas también mueren como posible punto de inflexión en el desarrollo histórico del documental de arte.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862072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16352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Examinar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el tratamiento del patrimonio cultural africano en el cine documental y etnográfico previo, para contextualizar la propuesta del film.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41063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4106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95343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Estudiar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los recursos formales, narrativos y discursivos empleados, para determinar cómo se construye su dimensión crítica.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020055"/>
            <a:ext cx="566928" cy="566928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200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74335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7A5236"/>
                </a:solidFill>
                <a:latin typeface="Calibri"/>
              </a:rPr>
              <a:t>Reflexionar</a:t>
            </a:r>
            <a:r>
              <a:rPr sz="1800" b="0" i="0">
                <a:solidFill>
                  <a:srgbClr val="2A2724"/>
                </a:solidFill>
                <a:latin typeface="Calibri"/>
              </a:rPr>
              <a:t> sobre cómo el film articula la crítica a la descontextualización y apropiación del arte africano, atendiendo a la función y el significado original de las obras.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Metodología aplicada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A5236"/>
                </a:solidFill>
                <a:latin typeface="Calibri"/>
              </a:rPr>
              <a:t>Estudio de caso con enfoque cualitativo e interdisciplinar y análisis histórico-artístico y formal del cortometraje.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5236"/>
                </a:solidFill>
                <a:latin typeface="Calibri"/>
              </a:rPr>
              <a:t>FUENTES MÁS DESTACADAS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06040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606040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752344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Fernández Cuenca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30 años de documental de arte en España (1967)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606040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606040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1" y="2752344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Aliaga Cárceles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La revista Imágenes y la visión documental de NO-DO (2022)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606040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2606040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2752344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García Fernández / Peydró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El cine sobre arte · La piel bajo las máscaras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88536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88536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434840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Hamery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Les films sur l'art d'Afrique noire (1945-1961)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4288536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59" y="4288536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1" y="4434840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Ceamanos &amp; Kabunda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El Reparto de África (2016)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4288536"/>
            <a:ext cx="35204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4288536"/>
            <a:ext cx="91440" cy="1481328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1" y="4434840"/>
            <a:ext cx="31089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2A2724"/>
                </a:solidFill>
                <a:latin typeface="Calibri"/>
              </a:rPr>
              <a:t>Sarr &amp; Savoy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B645C"/>
                </a:solidFill>
                <a:latin typeface="Calibri"/>
              </a:rPr>
              <a:t>The Restitution of African Cultural Heritage (2018)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500" b="1" i="0">
                <a:solidFill>
                  <a:srgbClr val="2A2724"/>
                </a:solidFill>
                <a:latin typeface="Georgia"/>
              </a:rPr>
              <a:t>El documental de arte y su institucionalización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6492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Orígenes: </a:t>
            </a:r>
            <a:r>
              <a:rPr sz="1550">
                <a:solidFill>
                  <a:srgbClr val="2A2724"/>
                </a:solidFill>
                <a:latin typeface="Calibri"/>
              </a:rPr>
              <a:t>el cine bebe del arte desde sus inicios; en los años 30 surge el sincretismo entre lo pictórico y lo filmado.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«Edad de oro» (posguerra): </a:t>
            </a:r>
            <a:r>
              <a:rPr sz="1550">
                <a:solidFill>
                  <a:srgbClr val="2A2724"/>
                </a:solidFill>
                <a:latin typeface="Calibri"/>
              </a:rPr>
              <a:t>valor multifuncional —expositivo, político y unificador— frente al cine como propaganda (NO-DO, Goebbels).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Caso francés: </a:t>
            </a:r>
            <a:r>
              <a:rPr sz="1550">
                <a:solidFill>
                  <a:srgbClr val="2A2724"/>
                </a:solidFill>
                <a:latin typeface="Calibri"/>
              </a:rPr>
              <a:t>del cinéma de qualité hacia un cine más poético y personal; germen del documental ensayístico.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C08A3E"/>
                </a:solidFill>
                <a:latin typeface="Calibri"/>
              </a:rPr>
              <a:t>—  </a:t>
            </a:r>
            <a:r>
              <a:rPr sz="1550" b="1">
                <a:solidFill>
                  <a:srgbClr val="2A2724"/>
                </a:solidFill>
                <a:latin typeface="Calibri"/>
              </a:rPr>
              <a:t>Nueva gramática: </a:t>
            </a:r>
            <a:r>
              <a:rPr sz="1550">
                <a:solidFill>
                  <a:srgbClr val="2A2724"/>
                </a:solidFill>
                <a:latin typeface="Calibri"/>
              </a:rPr>
              <a:t>travellings, variaciones de escala y montajes asociativos para crear nuevas relaciones de significado.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691640"/>
            <a:ext cx="4114800" cy="420624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08A3E"/>
                </a:solidFill>
                <a:latin typeface="Calibri"/>
              </a:rPr>
              <a:t>INSTITUCIONALIZACIÓN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459736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395728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UNESCO · FIAF (1938) · ICOM (1946)  </a:t>
            </a:r>
            <a:r>
              <a:rPr sz="1200" b="0" i="0">
                <a:solidFill>
                  <a:srgbClr val="F4F0E9"/>
                </a:solidFill>
                <a:latin typeface="Calibri"/>
              </a:rPr>
              <a:t>marco institucional de la cultura.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3300984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236976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26 jun. 1948  </a:t>
            </a:r>
            <a:r>
              <a:rPr sz="1200" b="0" i="0">
                <a:solidFill>
                  <a:srgbClr val="F4F0E9"/>
                </a:solidFill>
                <a:latin typeface="Calibri"/>
              </a:rPr>
              <a:t>I Conferencia Internacional sobre el Cine de Arte (Louvre y Musée de l'Homme) → nace la FIFA.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4142232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78224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1950  </a:t>
            </a:r>
            <a:r>
              <a:rPr sz="1200" b="0" i="0">
                <a:solidFill>
                  <a:srgbClr val="F4F0E9"/>
                </a:solidFill>
                <a:latin typeface="Calibri"/>
              </a:rPr>
              <a:t>Francis Bolen define la «película de arte» (congreso de Bruselas).</a:t>
            </a:r>
          </a:p>
        </p:txBody>
      </p:sp>
      <p:sp>
        <p:nvSpPr>
          <p:cNvPr id="15" name="Oval 14"/>
          <p:cNvSpPr/>
          <p:nvPr/>
        </p:nvSpPr>
        <p:spPr>
          <a:xfrm>
            <a:off x="7818120" y="4983480"/>
            <a:ext cx="91440" cy="91440"/>
          </a:xfrm>
          <a:prstGeom prst="ellipse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4919472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1952-53  </a:t>
            </a:r>
            <a:r>
              <a:rPr sz="1200" b="0" i="0">
                <a:solidFill>
                  <a:srgbClr val="F4F0E9"/>
                </a:solidFill>
                <a:latin typeface="Calibri"/>
              </a:rPr>
              <a:t>la UNESCO reconoce la FIFA, que pasa a recibir subvención.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400" b="1" i="0">
                <a:solidFill>
                  <a:srgbClr val="2A2724"/>
                </a:solidFill>
                <a:latin typeface="Georgia"/>
              </a:rPr>
              <a:t>El colonialismo africano y su manifiesto en el 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Reparto de África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35204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487168"/>
            <a:ext cx="31181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Conferencia de Berlín (1884-1885): reparto del continente con fines comerciales.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Expolio material, artístico, ritual e identitario de innumerables pueblos.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8308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7830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Del Trocadero al Quai Branly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2286000"/>
            <a:ext cx="35204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487168"/>
            <a:ext cx="31181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Museo del Trocadero (1892) y los «zoos humanos».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Paul Rivet inaugura el Musée de l'Homme (1938): «museo-laboratorio».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Quai Branly (2006); restituciones (Sarr &amp; Savoy 2018; Macron).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783080"/>
            <a:ext cx="352044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520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Mercado del arte africano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286000"/>
            <a:ext cx="35204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7" y="2487168"/>
            <a:ext cx="31181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Tourist art / airport art (Jules-Rosette): obras adaptadas al gusto europeo.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La «autenticidad» como valor de mercado.</a:t>
            </a:r>
          </a:p>
          <a:p>
            <a:pPr>
              <a:lnSpc>
                <a:spcPct val="102000"/>
              </a:lnSpc>
              <a:spcAft>
                <a:spcPts val="1200"/>
              </a:spcAft>
            </a:pPr>
            <a:r>
              <a:rPr sz="1250" b="1">
                <a:solidFill>
                  <a:srgbClr val="C08A3E"/>
                </a:solidFill>
                <a:latin typeface="Calibri"/>
              </a:rPr>
              <a:t>—  </a:t>
            </a:r>
            <a:r>
              <a:rPr sz="1250">
                <a:solidFill>
                  <a:srgbClr val="2A2724"/>
                </a:solidFill>
                <a:latin typeface="Calibri"/>
              </a:rPr>
              <a:t>El ego-system (Forni &amp; Steiner): herencia del colonialismo.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600" b="1" i="0">
                <a:solidFill>
                  <a:srgbClr val="2A2724"/>
                </a:solidFill>
                <a:latin typeface="Georgia"/>
              </a:rPr>
              <a:t>Tratamiento cinematográfico de África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7A5236"/>
                </a:solidFill>
                <a:latin typeface="Calibri"/>
              </a:rPr>
              <a:t>Tres tipologías de documental sobre el arte africano.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23160"/>
            <a:ext cx="3520440" cy="9601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propagandístico colonial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38328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584448"/>
            <a:ext cx="31181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Discurso reaccionario y paternalista.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Exalta la «benevolencia» colonial y lo «exótico».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El creador africano queda reducido a artesano.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423160"/>
            <a:ext cx="3520440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19" y="2423160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etnográfico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338328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3584448"/>
            <a:ext cx="31181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Busca conciliar la mirada occidental con el otro.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Pone en valor danza y rituales.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Jean Rouch: «cine directo» → cinéma vérité.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423160"/>
            <a:ext cx="3520440" cy="96012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9" y="2423160"/>
            <a:ext cx="3246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Documental
de arte (puro)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338328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7" y="3584448"/>
            <a:ext cx="31181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Espacio intermedio, enfoque museístico.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Centrado en las artes visuales.</a:t>
            </a:r>
          </a:p>
          <a:p>
            <a:pPr>
              <a:lnSpc>
                <a:spcPct val="102000"/>
              </a:lnSpc>
              <a:spcAft>
                <a:spcPts val="1100"/>
              </a:spcAft>
            </a:pPr>
            <a:r>
              <a:rPr sz="1300" b="1">
                <a:solidFill>
                  <a:srgbClr val="C08A3E"/>
                </a:solidFill>
                <a:latin typeface="Calibri"/>
              </a:rPr>
              <a:t>—  </a:t>
            </a:r>
            <a:r>
              <a:rPr sz="1300">
                <a:solidFill>
                  <a:srgbClr val="2A2724"/>
                </a:solidFill>
                <a:latin typeface="Calibri"/>
              </a:rPr>
              <a:t>Obras descontextualizadas de su función ritual.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Las estatuas también mueren (1953)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6400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Directores: </a:t>
            </a:r>
            <a:r>
              <a:rPr sz="1500">
                <a:solidFill>
                  <a:srgbClr val="2A2724"/>
                </a:solidFill>
                <a:latin typeface="Calibri"/>
              </a:rPr>
              <a:t>Chris Marker y Alain Resnais, del grupo de la Rive Gauche (junto a Agnès Varda).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Encargo: </a:t>
            </a:r>
            <a:r>
              <a:rPr sz="1500">
                <a:solidFill>
                  <a:srgbClr val="2A2724"/>
                </a:solidFill>
                <a:latin typeface="Calibri"/>
              </a:rPr>
              <a:t>del intelectual senegalés Alioune Diop, a través de la revista Présence Africaine (1950).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Ensayo cinematográfico: </a:t>
            </a:r>
            <a:r>
              <a:rPr sz="1500">
                <a:solidFill>
                  <a:srgbClr val="2A2724"/>
                </a:solidFill>
                <a:latin typeface="Calibri"/>
              </a:rPr>
              <a:t>C. Lupton lo describe como «un ejemplo magistral de ensayo cinematográfico».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Censura: </a:t>
            </a:r>
            <a:r>
              <a:rPr sz="1500">
                <a:solidFill>
                  <a:srgbClr val="2A2724"/>
                </a:solidFill>
                <a:latin typeface="Calibri"/>
              </a:rPr>
              <a:t>prohibido en Francia durante 12 años por su lectura anticolonial.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Vigencia: </a:t>
            </a:r>
            <a:r>
              <a:rPr sz="1500">
                <a:solidFill>
                  <a:srgbClr val="2A2724"/>
                </a:solidFill>
                <a:latin typeface="Calibri"/>
              </a:rPr>
              <a:t>su huella llega a Dahomey (Mati Diop) y al debate sobre la restitución (solo 26 de +7000 piezas).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600200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600200"/>
            <a:ext cx="91440" cy="19659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2" y="1746504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2A2724"/>
                </a:solidFill>
                <a:latin typeface="Calibri"/>
              </a:rPr>
              <a:t>Chris Marker</a:t>
            </a:r>
          </a:p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7A5236"/>
                </a:solidFill>
                <a:latin typeface="Calibri"/>
              </a:rPr>
              <a:t>Documental subjetivo · film-essay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B645C"/>
                </a:solidFill>
                <a:latin typeface="Calibri"/>
              </a:rPr>
              <a:t>«Soy un ensayista... y a mí hacer ensayos.» Comprometido con los ideales de Présence Africaine.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931920"/>
            <a:ext cx="4160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3931920"/>
            <a:ext cx="91440" cy="19659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4078224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 i="0">
                <a:solidFill>
                  <a:srgbClr val="2A2724"/>
                </a:solidFill>
                <a:latin typeface="Calibri"/>
              </a:rPr>
              <a:t>Alain Resnais</a:t>
            </a:r>
          </a:p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7A5236"/>
                </a:solidFill>
                <a:latin typeface="Calibri"/>
              </a:rPr>
              <a:t>Rive Gauche · documental de arte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B645C"/>
                </a:solidFill>
                <a:latin typeface="Calibri"/>
              </a:rPr>
              <a:t>Óscar por Van Gogh (1950). Aporta composiciones dinámicas, travellings y montaje para explorar las obras.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600" b="1" i="0">
                <a:solidFill>
                  <a:srgbClr val="2A2724"/>
                </a:solidFill>
                <a:latin typeface="Georgia"/>
              </a:rPr>
              <a:t>Contenido del film: dos bloques de obras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881360" cy="621792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F4F0E9"/>
                </a:solidFill>
                <a:latin typeface="Georgia"/>
              </a:rPr>
              <a:t>«Cuando los hombres mueren, se vuelven historia. Cuando las estatuas mueren, se vuelven arte.»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70048"/>
            <a:ext cx="5349240" cy="5029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70048"/>
            <a:ext cx="5349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Bloque I · Realeza y poder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10128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Cabezas de oba (Reino de Benín) y de oni (Reino de Ife), Nigeria.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Guerreros y leopardos de bronce de Benín (British Museum).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Montaje rítmico y fundidos: ¿colonizó Francia un pueblo «sin cultura»?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670048"/>
            <a:ext cx="5257800" cy="50292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70048"/>
            <a:ext cx="5257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Bloque II · Culto y ritual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10128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Relicarios Kota (Gabón); tableros de adivinación Ifá, Yoruba (Nigeria).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Reposacabezas Pende (R. D. del Congo); máscaras Dan (Costa de Marfil).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 b="1">
                <a:solidFill>
                  <a:srgbClr val="C08A3E"/>
                </a:solidFill>
                <a:latin typeface="Calibri"/>
              </a:rPr>
              <a:t>—  </a:t>
            </a:r>
            <a:r>
              <a:rPr sz="1350">
                <a:solidFill>
                  <a:srgbClr val="2A2724"/>
                </a:solidFill>
                <a:latin typeface="Calibri"/>
              </a:rPr>
              <a:t>Culto animista y a los ancestros; piezas deliberadamente sin contexto.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CONTENIDO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600" b="1" i="0">
                <a:solidFill>
                  <a:srgbClr val="2A2724"/>
                </a:solidFill>
                <a:latin typeface="Georgia"/>
              </a:rPr>
              <a:t>Forma fílmica y problemática de género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3736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Fotografía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2A2724"/>
                </a:solidFill>
                <a:latin typeface="Calibri"/>
              </a:rPr>
              <a:t>Ghislain Cloquet expone las piezas sobre fondos neutros: detalle y, a la vez, refuerzo de su descontextualización.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3736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73736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73736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Música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37744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2A2724"/>
                </a:solidFill>
                <a:latin typeface="Calibri"/>
              </a:rPr>
              <a:t>Guy Bernard alterna lo familiar (europeo-americano) y lo «exótico-ritual», con momentos sincréticos.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737360"/>
            <a:ext cx="35204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3520440" cy="45720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173736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08A3E"/>
                </a:solidFill>
                <a:latin typeface="Calibri"/>
              </a:rPr>
              <a:t>Montaje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37744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2A2724"/>
                </a:solidFill>
                <a:latin typeface="Calibri"/>
              </a:rPr>
              <a:t>Material de archivo (influencia de Esfir Shub): contrasta las «bondades» coloniales con su hipocresía.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881360" cy="1508760"/>
          </a:xfrm>
          <a:prstGeom prst="rect">
            <a:avLst/>
          </a:prstGeom>
          <a:solidFill>
            <a:srgbClr val="7A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297680"/>
            <a:ext cx="128016" cy="150876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43484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¿Documental de arte o ensayo fílmico?</a:t>
            </a:r>
          </a:p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F4F0E9"/>
                </a:solidFill>
                <a:latin typeface="Calibri"/>
              </a:rPr>
              <a:t>Aunque por su forma parezca un documental de arte, Resnais y Marker lo exceden: la Rive Gauche desarrolla el ciné-essai, que aborda con ironía y firmeza la problemática colonial y la mirada racista aún imperante.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2A2724"/>
                </a:solidFill>
                <a:latin typeface="Georgia"/>
              </a:rPr>
              <a:t>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65836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Punto de inflexión: </a:t>
            </a:r>
            <a:r>
              <a:rPr sz="1500">
                <a:solidFill>
                  <a:srgbClr val="2A2724"/>
                </a:solidFill>
                <a:latin typeface="Calibri"/>
              </a:rPr>
              <a:t>el film supera los estándares del documental de arte y abre debate sobre identidad, poder colonial y pérdida de significados.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Tratamiento ontológico: </a:t>
            </a:r>
            <a:r>
              <a:rPr sz="1500">
                <a:solidFill>
                  <a:srgbClr val="2A2724"/>
                </a:solidFill>
                <a:latin typeface="Calibri"/>
              </a:rPr>
              <a:t>frente al cine etnográfico-expositivo (p. ej. Mangbetu, 1954), da voz a las historias reprimidas tras cada pieza.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Ensayo fílmico-crítico: </a:t>
            </a:r>
            <a:r>
              <a:rPr sz="1500">
                <a:solidFill>
                  <a:srgbClr val="2A2724"/>
                </a:solidFill>
                <a:latin typeface="Calibri"/>
              </a:rPr>
              <a:t>se confirma la hipótesis; la obra se alinea con la ensayística más que con la mera exposición.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08A3E"/>
                </a:solidFill>
                <a:latin typeface="Calibri"/>
              </a:rPr>
              <a:t>—  </a:t>
            </a:r>
            <a:r>
              <a:rPr sz="1500" b="1">
                <a:solidFill>
                  <a:srgbClr val="2A2724"/>
                </a:solidFill>
                <a:latin typeface="Calibri"/>
              </a:rPr>
              <a:t>Preguntas abiertas: </a:t>
            </a:r>
            <a:r>
              <a:rPr sz="1500">
                <a:solidFill>
                  <a:srgbClr val="2A2724"/>
                </a:solidFill>
                <a:latin typeface="Calibri"/>
              </a:rPr>
              <a:t>¿devolverá Occidente el patrimonio expoliado? ¿en qué condiciones? ¿está África preparada para conservarlo?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00200"/>
            <a:ext cx="4069080" cy="4251960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0" y="1600200"/>
            <a:ext cx="4069080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011680"/>
            <a:ext cx="3474720" cy="3657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F4F0E9"/>
                </a:solidFill>
                <a:latin typeface="Georgia"/>
              </a:rPr>
              <a:t>«Cuando el documental de arte abandona la mera descripción para convertirse en una herramienta de pensamiento crítico, deja de explicar el mundo para empezar a cuestionarlo.»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0" y="219456"/>
            <a:ext cx="7479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6B645C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28016" cy="96012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A5236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600" b="1" i="0">
                <a:solidFill>
                  <a:srgbClr val="2A2724"/>
                </a:solidFill>
                <a:latin typeface="Georgia"/>
              </a:rPr>
              <a:t>Referencias bibliográficas y documentales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Aliaga Cárceles, J. J. La revista Imágenes y la visión documental de NO-DO. Tesis doctoral, Univ. di Bologna, 2022.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Alter, N. M. Chris Marker. Urbana: University of Illinois Press, 2006.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Ceamanos, R. y Kabunda, M. El Reparto de África. Madrid: Los libros de la Catarata, 2016.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Cortijo Talavera, A. «Los documentales restitutivos y poéticos de Alain Resnais». IC, 21, 2024.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Fernández Cuenca, C. 30 años de documental de arte en España. Madrid: EOC, 1967.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Forni, S. y Steiner, C. B. «The African Art Market as Ego-System». Critical Interventions, 12, 2018.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Fraiture, P.-Ph. «Statues Also Die». Journal of French and Francophone Philosophy, XXIV, 1, 2016.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García Fernández, G. «La piel bajo las máscaras... Les Statues meurent aussi». Mirando a Clío, 2010.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García Peydró, G. El cine sobre arte. Santander: Shangrila, 2019.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Hamery, R. «Les films sur l'art d'Afrique noire (1945-1961)», en Le film sur l'art. Rennes: PUR, 2015.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Lupton, C. Chris Marker, memories of the future. Londres: Reaktion Books, 2005.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Sarr, F. y Savoy, B. The Restitution of African Cultural Heritage. París, 2018.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Schäuble, M. «The Adventure of the Real. Jean Rouch...». Zeitschrift für Ethnologie, 136, 2011.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b="1" sz="1100">
                <a:solidFill>
                  <a:srgbClr val="C08A3E"/>
                </a:solidFill>
              </a:rPr>
              <a:t>•  </a:t>
            </a:r>
            <a:r>
              <a:rPr sz="1050">
                <a:solidFill>
                  <a:srgbClr val="2A2724"/>
                </a:solidFill>
                <a:latin typeface="Calibri"/>
              </a:rPr>
              <a:t>Robert, V., Le Forestier, L. y Albera, F. Le film sur l'art. Rennes: PUR, 2015.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5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28232"/>
            <a:ext cx="9601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645C"/>
                </a:solidFill>
                <a:latin typeface="Calibri"/>
              </a:rPr>
              <a:t>Departamento de Historia del Arte · Universidad de Murcia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28232"/>
            <a:ext cx="1170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08A3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75504" y="3657600"/>
            <a:ext cx="1828800" cy="3175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C08A3E"/>
                </a:solidFill>
                <a:latin typeface="Calibri"/>
              </a:rPr>
              <a:t>Pedro José Díaz Bravo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 i="1">
                <a:solidFill>
                  <a:srgbClr val="F4F0E9"/>
                </a:solidFill>
                <a:latin typeface="Georgia"/>
              </a:rPr>
              <a:t>Más allá del documental de arte: ensayo fílmico y crítica anticolonial en Las estatuas también mueren</a:t>
            </a:r>
          </a:p>
          <a:p>
            <a:pPr algn="ctr"/>
            <a:r>
              <a:rPr sz="1100" b="0" i="0">
                <a:solidFill>
                  <a:srgbClr val="6B645C"/>
                </a:solidFill>
                <a:latin typeface="Calibri"/>
              </a:rPr>
              <a:t>Grado en Historia del Arte · Universidad de Murcia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