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2011680" cy="3175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8A3E"/>
                </a:solidFill>
                <a:latin typeface="Calibri"/>
              </a:rPr>
              <a:t>TRABAJO FIN DE GRADO  ·  GRADO EN HISTORIA DEL 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Más allá del documental de arte: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0" i="1">
                <a:solidFill>
                  <a:srgbClr val="F4F0E9"/>
                </a:solidFill>
                <a:latin typeface="Georgia"/>
              </a:rPr>
              <a:t>ensayo fílmico y crítica anticolonial en</a:t>
            </a:r>
          </a:p>
          <a:p>
            <a:pPr algn="l"/>
            <a:r>
              <a:rPr sz="3000" b="1" i="1">
                <a:solidFill>
                  <a:srgbClr val="C08A3E"/>
                </a:solidFill>
                <a:latin typeface="Georgia"/>
              </a:rPr>
              <a:t>Las estatuas también mueren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Pedro José Díaz Bravo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B645C"/>
                </a:solidFill>
                <a:latin typeface="Calibri"/>
              </a:rPr>
              <a:t>Bajo la dirección de  </a:t>
            </a:r>
            <a:r>
              <a:rPr sz="1300" b="0" i="0">
                <a:solidFill>
                  <a:srgbClr val="F4F0E9"/>
                </a:solidFill>
                <a:latin typeface="Calibri"/>
              </a:rPr>
              <a:t>Dr. José Javier Aliaga Cárceles  ·  D. José Ramón García Cañizares</a:t>
            </a:r>
          </a:p>
          <a:p>
            <a:pPr algn="l"/>
            <a:r>
              <a:rPr sz="1200" b="0" i="0">
                <a:solidFill>
                  <a:srgbClr val="F4F0E9"/>
                </a:solidFill>
                <a:latin typeface="Calibri"/>
              </a:rPr>
              <a:t>Universidad de Murcia · Facultad de Letras</a:t>
            </a:r>
            <a:r>
              <a:rPr sz="1200" b="0" i="0">
                <a:solidFill>
                  <a:srgbClr val="6B645C"/>
                </a:solidFill>
                <a:latin typeface="Calibri"/>
              </a:rPr>
              <a:t>      Curso 2025-2026 · Convocatoria de junio-julio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ESTRUCTURA DE LA PRESENTACIÓN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C08A3E"/>
                </a:solidFill>
                <a:latin typeface="Georgia"/>
              </a:rPr>
              <a:t>1.  </a:t>
            </a:r>
            <a:r>
              <a:rPr sz="1800">
                <a:solidFill>
                  <a:srgbClr val="2A2724"/>
                </a:solidFill>
                <a:latin typeface="Calibri"/>
              </a:rPr>
              <a:t>Introducción, justificación e hipótesis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C08A3E"/>
                </a:solidFill>
                <a:latin typeface="Georgia"/>
              </a:rPr>
              <a:t>2.  </a:t>
            </a:r>
            <a:r>
              <a:rPr sz="1800">
                <a:solidFill>
                  <a:srgbClr val="2A2724"/>
                </a:solidFill>
                <a:latin typeface="Calibri"/>
              </a:rPr>
              <a:t>Estado de la cuestión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C08A3E"/>
                </a:solidFill>
                <a:latin typeface="Georgia"/>
              </a:rPr>
              <a:t>3.  </a:t>
            </a:r>
            <a:r>
              <a:rPr sz="1800">
                <a:solidFill>
                  <a:srgbClr val="2A2724"/>
                </a:solidFill>
                <a:latin typeface="Calibri"/>
              </a:rPr>
              <a:t>Objetivos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C08A3E"/>
                </a:solidFill>
                <a:latin typeface="Georgia"/>
              </a:rPr>
              <a:t>4.  </a:t>
            </a:r>
            <a:r>
              <a:rPr sz="1800">
                <a:solidFill>
                  <a:srgbClr val="2A2724"/>
                </a:solidFill>
                <a:latin typeface="Calibri"/>
              </a:rPr>
              <a:t>Metodología y fuentes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5740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C08A3E"/>
                </a:solidFill>
                <a:latin typeface="Georgia"/>
              </a:rPr>
              <a:t>5.  </a:t>
            </a:r>
            <a:r>
              <a:rPr sz="1800">
                <a:solidFill>
                  <a:srgbClr val="2A2724"/>
                </a:solidFill>
                <a:latin typeface="Calibri"/>
              </a:rPr>
              <a:t>El documental de arte y su institucionalización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C08A3E"/>
                </a:solidFill>
                <a:latin typeface="Georgia"/>
              </a:rPr>
              <a:t>6.  </a:t>
            </a:r>
            <a:r>
              <a:rPr sz="1800">
                <a:solidFill>
                  <a:srgbClr val="2A2724"/>
                </a:solidFill>
                <a:latin typeface="Calibri"/>
              </a:rPr>
              <a:t>Colonialismo, museos y mercado del arte africano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C08A3E"/>
                </a:solidFill>
                <a:latin typeface="Georgia"/>
              </a:rPr>
              <a:t>7.  </a:t>
            </a:r>
            <a:r>
              <a:rPr sz="1800">
                <a:solidFill>
                  <a:srgbClr val="2A2724"/>
                </a:solidFill>
                <a:latin typeface="Calibri"/>
              </a:rPr>
              <a:t>Las estatuas también mueren (1953)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C08A3E"/>
                </a:solidFill>
                <a:latin typeface="Georgia"/>
              </a:rPr>
              <a:t>8.  </a:t>
            </a:r>
            <a:r>
              <a:rPr sz="1800">
                <a:solidFill>
                  <a:srgbClr val="2A2724"/>
                </a:solidFill>
                <a:latin typeface="Calibri"/>
              </a:rPr>
              <a:t>Conclusiones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INTRODUCCIÓN Y JUSTIFICACIÓN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Punto de partida e hipótesis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6400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C08A3E"/>
                </a:solidFill>
                <a:latin typeface="Calibri"/>
              </a:rPr>
              <a:t>—  </a:t>
            </a:r>
            <a:r>
              <a:rPr sz="1700" b="1">
                <a:solidFill>
                  <a:srgbClr val="2A2724"/>
                </a:solidFill>
                <a:latin typeface="Calibri"/>
              </a:rPr>
              <a:t>El documental de arte </a:t>
            </a:r>
            <a:r>
              <a:rPr sz="1700">
                <a:solidFill>
                  <a:srgbClr val="2A2724"/>
                </a:solidFill>
                <a:latin typeface="Calibri"/>
              </a:rPr>
              <a:t>trasciende la mera documentación, catalogación y exposición de obras.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C08A3E"/>
                </a:solidFill>
                <a:latin typeface="Calibri"/>
              </a:rPr>
              <a:t>—  </a:t>
            </a:r>
            <a:r>
              <a:rPr sz="1700" b="1">
                <a:solidFill>
                  <a:srgbClr val="2A2724"/>
                </a:solidFill>
                <a:latin typeface="Calibri"/>
              </a:rPr>
              <a:t>Tras la Segunda Guerra Mundial </a:t>
            </a:r>
            <a:r>
              <a:rPr sz="1700">
                <a:solidFill>
                  <a:srgbClr val="2A2724"/>
                </a:solidFill>
                <a:latin typeface="Calibri"/>
              </a:rPr>
              <a:t>vive una auténtica «edad de oro»: conocimiento, conservación y sensibilización patrimonial.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C08A3E"/>
                </a:solidFill>
                <a:latin typeface="Calibri"/>
              </a:rPr>
              <a:t>—  </a:t>
            </a:r>
            <a:r>
              <a:rPr sz="1700" b="1">
                <a:solidFill>
                  <a:srgbClr val="2A2724"/>
                </a:solidFill>
                <a:latin typeface="Calibri"/>
              </a:rPr>
              <a:t>Función educativa y ética </a:t>
            </a:r>
            <a:r>
              <a:rPr sz="1700">
                <a:solidFill>
                  <a:srgbClr val="2A2724"/>
                </a:solidFill>
                <a:latin typeface="Calibri"/>
              </a:rPr>
              <a:t>del género: divulgación y formación cultural de los públicos.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C08A3E"/>
                </a:solidFill>
                <a:latin typeface="Calibri"/>
              </a:rPr>
              <a:t>—  </a:t>
            </a:r>
            <a:r>
              <a:rPr sz="1700" b="1">
                <a:solidFill>
                  <a:srgbClr val="2A2724"/>
                </a:solidFill>
                <a:latin typeface="Calibri"/>
              </a:rPr>
              <a:t>Caso de estudio: </a:t>
            </a:r>
            <a:r>
              <a:rPr sz="1700">
                <a:solidFill>
                  <a:srgbClr val="2A2724"/>
                </a:solidFill>
                <a:latin typeface="Calibri"/>
              </a:rPr>
              <a:t>Las estatuas también mueren (1953), de Alain Resnais y Chris Marker.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52360" y="1874519"/>
            <a:ext cx="4206240" cy="3977639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874519"/>
            <a:ext cx="128016" cy="3977639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1031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8A3E"/>
                </a:solidFill>
                <a:latin typeface="Calibri"/>
              </a:rPr>
              <a:t>HIPÓTESIS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0604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F4F0E9"/>
                </a:solidFill>
                <a:latin typeface="Calibri"/>
              </a:rPr>
              <a:t>El film no se limita a las convenciones del documental de arte de su tiempo: las trasciende para configurarse como un ensayo fílmico de carácter crítico, que denuncia la descontextualización y apropiación del arte africano en el marco del colonialismo.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ESTADO DE LA CUESTIÓN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Un tema interdisciplinar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6B645C"/>
                </a:solidFill>
                <a:latin typeface="Calibri"/>
              </a:rPr>
              <a:t>Historia del arte y cultura visual en diálogo con la sociología, la etnografía, la historia y la geopolítica.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3520440" cy="50292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Documental de arte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26080"/>
            <a:ext cx="35204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C. Fernández Cuenca — 30 años de documental de arte en España (1967)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J. J. Aliaga Cárceles — tesis sobre Imágenes y NO-DO (2022)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G. García Fernández / Peydró — El cine sobre arte y el cine-ensayo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423160"/>
            <a:ext cx="3520440" cy="50292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42316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África y colonialismo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926080"/>
            <a:ext cx="35204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31546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R. Hamery — Les films sur l'art d'Afrique noire (1945-1961)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Sarr &amp; Savoy — The Restitution of African Cultural Heritage (2018)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Ceamanos &amp; Kabunda — El Reparto de África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80" y="2423160"/>
            <a:ext cx="3520440" cy="50292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242316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El film y sus autores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2926080"/>
            <a:ext cx="35204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1546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G. García Fernández — La piel bajo las máscaras (Les Statues...)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N. M. Alter — Chris Marker (2006)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A. Cortijo Talavera — los documentales de Alain Resnais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OBJETIVOS DE LA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Objetivos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920240"/>
            <a:ext cx="566928" cy="566928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83664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7A5236"/>
                </a:solidFill>
                <a:latin typeface="Calibri"/>
              </a:rPr>
              <a:t>Analizar</a:t>
            </a:r>
            <a:r>
              <a:rPr sz="1800" b="0" i="0">
                <a:solidFill>
                  <a:srgbClr val="2A2724"/>
                </a:solidFill>
                <a:latin typeface="Calibri"/>
              </a:rPr>
              <a:t> el papel de Las estatuas también mueren como posible punto de inflexión en el desarrollo histórico del documental de arte.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971800"/>
            <a:ext cx="566928" cy="566928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71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35224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7A5236"/>
                </a:solidFill>
                <a:latin typeface="Calibri"/>
              </a:rPr>
              <a:t>Examinar</a:t>
            </a:r>
            <a:r>
              <a:rPr sz="1800" b="0" i="0">
                <a:solidFill>
                  <a:srgbClr val="2A2724"/>
                </a:solidFill>
                <a:latin typeface="Calibri"/>
              </a:rPr>
              <a:t> el tratamiento del patrimonio cultural africano en el cine documental y etnográfico previo, para contextualizar la propuesta del film.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86784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7A5236"/>
                </a:solidFill>
                <a:latin typeface="Calibri"/>
              </a:rPr>
              <a:t>Estudiar</a:t>
            </a:r>
            <a:r>
              <a:rPr sz="1800" b="0" i="0">
                <a:solidFill>
                  <a:srgbClr val="2A2724"/>
                </a:solidFill>
                <a:latin typeface="Calibri"/>
              </a:rPr>
              <a:t> los recursos formales, narrativos y discursivos con los que se construye su dimensión crítica.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074920"/>
            <a:ext cx="566928" cy="566928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749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038344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7A5236"/>
                </a:solidFill>
                <a:latin typeface="Calibri"/>
              </a:rPr>
              <a:t>Reflexionar</a:t>
            </a:r>
            <a:r>
              <a:rPr sz="1800" b="0" i="0">
                <a:solidFill>
                  <a:srgbClr val="2A2724"/>
                </a:solidFill>
                <a:latin typeface="Calibri"/>
              </a:rPr>
              <a:t> sobre la descontextualización y apropiación del arte africano: función original de las obras frente a su exhibición en museos occidentales.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METODOLOGÍA APLICADA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Enfoque y fuentes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6B645C"/>
                </a:solidFill>
                <a:latin typeface="Calibri"/>
              </a:rPr>
              <a:t>Análisis histórico-artístico y fílmico de un caso de estudio, con lectura crítica de fuentes interdisciplinares y análisis formal del cortometraje.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91440" cy="15544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679192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2A2724"/>
                </a:solidFill>
                <a:latin typeface="Calibri"/>
              </a:rPr>
              <a:t>Fernández Cuenca</a:t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B645C"/>
                </a:solidFill>
                <a:latin typeface="Calibri"/>
              </a:rPr>
              <a:t>30 años de documental de arte en España (1967)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251460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2514600"/>
            <a:ext cx="91440" cy="15544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1" y="2679192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2A2724"/>
                </a:solidFill>
                <a:latin typeface="Calibri"/>
              </a:rPr>
              <a:t>Aliaga Cárceles</a:t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B645C"/>
                </a:solidFill>
                <a:latin typeface="Calibri"/>
              </a:rPr>
              <a:t>La revista Imágenes y la visión documental de NO-DO (2022)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251460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2514600"/>
            <a:ext cx="91440" cy="15544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9911" y="2679192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2A2724"/>
                </a:solidFill>
                <a:latin typeface="Calibri"/>
              </a:rPr>
              <a:t>García Fernández</a:t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B645C"/>
                </a:solidFill>
                <a:latin typeface="Calibri"/>
              </a:rPr>
              <a:t>El cine sobre arte / La piel bajo las máscaras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9768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97680"/>
            <a:ext cx="91440" cy="15544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462272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2A2724"/>
                </a:solidFill>
                <a:latin typeface="Calibri"/>
              </a:rPr>
              <a:t>Hamery</a:t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B645C"/>
                </a:solidFill>
                <a:latin typeface="Calibri"/>
              </a:rPr>
              <a:t>Les films sur l'art d'Afrique noire (1945-1961)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29768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59" y="4297680"/>
            <a:ext cx="91440" cy="15544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6591" y="4462272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2A2724"/>
                </a:solidFill>
                <a:latin typeface="Calibri"/>
              </a:rPr>
              <a:t>Sarr &amp; Savoy</a:t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B645C"/>
                </a:solidFill>
                <a:latin typeface="Calibri"/>
              </a:rPr>
              <a:t>The Restitution of African Cultural Heritage (2018)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429768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79" y="4297680"/>
            <a:ext cx="91440" cy="15544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1" y="4462272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2A2724"/>
                </a:solidFill>
                <a:latin typeface="Calibri"/>
              </a:rPr>
              <a:t>Alter / Lupton</a:t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B645C"/>
                </a:solidFill>
                <a:latin typeface="Calibri"/>
              </a:rPr>
              <a:t>Chris Marker — monografías de referencia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El documental de arte y su institucionalización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64922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600" b="1">
                <a:solidFill>
                  <a:srgbClr val="C08A3E"/>
                </a:solidFill>
                <a:latin typeface="Calibri"/>
              </a:rPr>
              <a:t>—  </a:t>
            </a:r>
            <a:r>
              <a:rPr sz="1600" b="1">
                <a:solidFill>
                  <a:srgbClr val="2A2724"/>
                </a:solidFill>
                <a:latin typeface="Calibri"/>
              </a:rPr>
              <a:t>Orígenes: </a:t>
            </a:r>
            <a:r>
              <a:rPr sz="1600">
                <a:solidFill>
                  <a:srgbClr val="2A2724"/>
                </a:solidFill>
                <a:latin typeface="Calibri"/>
              </a:rPr>
              <a:t>el cine bebe del arte desde sus inicios; en los años 30 surge el sincretismo entre lo pictórico y lo filmado.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600" b="1">
                <a:solidFill>
                  <a:srgbClr val="C08A3E"/>
                </a:solidFill>
                <a:latin typeface="Calibri"/>
              </a:rPr>
              <a:t>—  </a:t>
            </a:r>
            <a:r>
              <a:rPr sz="1600" b="1">
                <a:solidFill>
                  <a:srgbClr val="2A2724"/>
                </a:solidFill>
                <a:latin typeface="Calibri"/>
              </a:rPr>
              <a:t>«Edad de oro» (posguerra): </a:t>
            </a:r>
            <a:r>
              <a:rPr sz="1600">
                <a:solidFill>
                  <a:srgbClr val="2A2724"/>
                </a:solidFill>
                <a:latin typeface="Calibri"/>
              </a:rPr>
              <a:t>valor multifuncional —expositivo, político y unificador— frente al cine como propaganda (NO-DO, Goebbels).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600" b="1">
                <a:solidFill>
                  <a:srgbClr val="C08A3E"/>
                </a:solidFill>
                <a:latin typeface="Calibri"/>
              </a:rPr>
              <a:t>—  </a:t>
            </a:r>
            <a:r>
              <a:rPr sz="1600" b="1">
                <a:solidFill>
                  <a:srgbClr val="2A2724"/>
                </a:solidFill>
                <a:latin typeface="Calibri"/>
              </a:rPr>
              <a:t>Caso francés: </a:t>
            </a:r>
            <a:r>
              <a:rPr sz="1600">
                <a:solidFill>
                  <a:srgbClr val="2A2724"/>
                </a:solidFill>
                <a:latin typeface="Calibri"/>
              </a:rPr>
              <a:t>del cinéma de qualité hacia un cine más poético y personal; semilla del documental ensayístico.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600" b="1">
                <a:solidFill>
                  <a:srgbClr val="C08A3E"/>
                </a:solidFill>
                <a:latin typeface="Calibri"/>
              </a:rPr>
              <a:t>—  </a:t>
            </a:r>
            <a:r>
              <a:rPr sz="1600" b="1">
                <a:solidFill>
                  <a:srgbClr val="2A2724"/>
                </a:solidFill>
                <a:latin typeface="Calibri"/>
              </a:rPr>
              <a:t>Nueva gramática: </a:t>
            </a:r>
            <a:r>
              <a:rPr sz="1600">
                <a:solidFill>
                  <a:srgbClr val="2A2724"/>
                </a:solidFill>
                <a:latin typeface="Calibri"/>
              </a:rPr>
              <a:t>travellings, variaciones de escala y montajes asociativos para crear nuevas relaciones de significado.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828800"/>
            <a:ext cx="4114800" cy="406908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08A3E"/>
                </a:solidFill>
                <a:latin typeface="Calibri"/>
              </a:rPr>
              <a:t>INSTITUCIONALIZACIÓN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2569464"/>
            <a:ext cx="91440" cy="91440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1" y="2514600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UNESCO · FIAF · ICOM  </a:t>
            </a:r>
            <a:r>
              <a:rPr sz="1250" b="0" i="0">
                <a:solidFill>
                  <a:srgbClr val="F4F0E9"/>
                </a:solidFill>
                <a:latin typeface="Calibri"/>
              </a:rPr>
              <a:t>marco institucional de la cultura</a:t>
            </a:r>
          </a:p>
        </p:txBody>
      </p:sp>
      <p:sp>
        <p:nvSpPr>
          <p:cNvPr id="10" name="Oval 9"/>
          <p:cNvSpPr/>
          <p:nvPr/>
        </p:nvSpPr>
        <p:spPr>
          <a:xfrm>
            <a:off x="7818120" y="3392424"/>
            <a:ext cx="91440" cy="91440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3337560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26 jun. 1948  </a:t>
            </a:r>
            <a:r>
              <a:rPr sz="1250" b="0" i="0">
                <a:solidFill>
                  <a:srgbClr val="F4F0E9"/>
                </a:solidFill>
                <a:latin typeface="Calibri"/>
              </a:rPr>
              <a:t>I Conferencia Internacional sobre el Cine de Arte (Louvre y Musée de l'Homme) → nace la FIFA</a:t>
            </a:r>
          </a:p>
        </p:txBody>
      </p:sp>
      <p:sp>
        <p:nvSpPr>
          <p:cNvPr id="12" name="Oval 11"/>
          <p:cNvSpPr/>
          <p:nvPr/>
        </p:nvSpPr>
        <p:spPr>
          <a:xfrm>
            <a:off x="7818120" y="4215383"/>
            <a:ext cx="91440" cy="91440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4160520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1950  </a:t>
            </a:r>
            <a:r>
              <a:rPr sz="1250" b="0" i="0">
                <a:solidFill>
                  <a:srgbClr val="F4F0E9"/>
                </a:solidFill>
                <a:latin typeface="Calibri"/>
              </a:rPr>
              <a:t>Bolen define la «película de arte» (Bruselas)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5038344"/>
            <a:ext cx="91440" cy="91440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4983480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1952-53  </a:t>
            </a:r>
            <a:r>
              <a:rPr sz="1250" b="0" i="0">
                <a:solidFill>
                  <a:srgbClr val="F4F0E9"/>
                </a:solidFill>
                <a:latin typeface="Calibri"/>
              </a:rPr>
              <a:t>la UNESCO reconoce la FIFA; subvención de sus actividades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Colonialismo, museos y mercado del arte africano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3520440" cy="5029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Reparto de África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542032"/>
            <a:ext cx="3118104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Conferencia de Berlín (1884-1885): reparto del continente con fines comerciales.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Expolio material, artístico, ritual e identitario de innumerables pueblos.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828800"/>
            <a:ext cx="3520440" cy="5029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82880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Del Trocadero al Quai Branly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3172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542032"/>
            <a:ext cx="3118104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Museo del Trocadero (1892) y los «zoos humanos» etnocéntricos.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Paul Rivet funda el Musée de l'Homme (1938): «museo-laboratorio».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Quai Branly (2006); restituciones (Sarr &amp; Savoy 2018; Macron).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828800"/>
            <a:ext cx="3520440" cy="5029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82880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Mercado del arte africano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233172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7" y="2542032"/>
            <a:ext cx="3118104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Tourist / airport art (Jules-Rosette): obras adaptadas al gusto europeo.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La «autenticidad» como valor de mercado.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El ego-system (Forni &amp; Steiner): herencia desigual del colonialismo.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Tres miradas: el cine documental sobre África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520440" cy="9601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246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Documental
propagandístico colonial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34640"/>
            <a:ext cx="35204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063240"/>
            <a:ext cx="3118104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Discurso reaccionario y paternalista.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Exalta la «benevolencia» colonial y lo «exótico».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El creador africano queda reducido a artesano.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874519"/>
            <a:ext cx="3520440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19" y="1874519"/>
            <a:ext cx="3246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Documental
etnográfico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834640"/>
            <a:ext cx="35204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3063240"/>
            <a:ext cx="3118104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Busca conciliar la mirada occidental con el otro.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Pone en valor danza y rituales.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Jean Rouch: «cine directo» → cinéma vérité.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874519"/>
            <a:ext cx="3520440" cy="96012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1874519"/>
            <a:ext cx="3246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Documental
de arte (puro)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2834640"/>
            <a:ext cx="35204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7" y="3063240"/>
            <a:ext cx="3118104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Espacio intermedio, enfoque museístico.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Centrado en las artes visuales.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Obras descontextualizadas de su función.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Las estatuas también mueren (1953)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6400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Directores: </a:t>
            </a:r>
            <a:r>
              <a:rPr sz="1550">
                <a:solidFill>
                  <a:srgbClr val="2A2724"/>
                </a:solidFill>
                <a:latin typeface="Calibri"/>
              </a:rPr>
              <a:t>Chris Marker y Alain Resnais, vinculados a la Rive Gauche (junto a Agnès Varda).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Encargo: </a:t>
            </a:r>
            <a:r>
              <a:rPr sz="1550">
                <a:solidFill>
                  <a:srgbClr val="2A2724"/>
                </a:solidFill>
                <a:latin typeface="Calibri"/>
              </a:rPr>
              <a:t>el intelectual senegalés Alioune Diop, a través de la revista Présence Africaine (1950).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Ensayo cinematográfico: </a:t>
            </a:r>
            <a:r>
              <a:rPr sz="1550">
                <a:solidFill>
                  <a:srgbClr val="2A2724"/>
                </a:solidFill>
                <a:latin typeface="Calibri"/>
              </a:rPr>
              <a:t>C. Lupton lo describe como «un ejemplo magistral de ensayo cinematográfico».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Recepción: </a:t>
            </a:r>
            <a:r>
              <a:rPr sz="1550">
                <a:solidFill>
                  <a:srgbClr val="2A2724"/>
                </a:solidFill>
                <a:latin typeface="Calibri"/>
              </a:rPr>
              <a:t>censurado en Francia durante 12 años por su lectura anticolonial.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Continuidad: </a:t>
            </a:r>
            <a:r>
              <a:rPr sz="1550">
                <a:solidFill>
                  <a:srgbClr val="2A2724"/>
                </a:solidFill>
                <a:latin typeface="Calibri"/>
              </a:rPr>
              <a:t>su huella llega hasta Dahomey (Mati Diop) y el debate actual sobre la restitución.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1828800"/>
            <a:ext cx="4160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79" y="1828800"/>
            <a:ext cx="91440" cy="1920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54111" y="1965960"/>
            <a:ext cx="3749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2A2724"/>
                </a:solidFill>
                <a:latin typeface="Calibri"/>
              </a:rPr>
              <a:t>Chris Marker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7A5236"/>
                </a:solidFill>
                <a:latin typeface="Calibri"/>
              </a:rPr>
              <a:t>Documental subjetivo · film-essay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5C"/>
                </a:solidFill>
                <a:latin typeface="Calibri"/>
              </a:rPr>
              <a:t>«Soy un ensayista... y a mí hacer ensayos.» Encargado del proyecto por su afinidad con Présence Africaine.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977639"/>
            <a:ext cx="4160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977639"/>
            <a:ext cx="91440" cy="1920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4114800"/>
            <a:ext cx="3749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2A2724"/>
                </a:solidFill>
                <a:latin typeface="Calibri"/>
              </a:rPr>
              <a:t>Alain Resnais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7A5236"/>
                </a:solidFill>
                <a:latin typeface="Calibri"/>
              </a:rPr>
              <a:t>Rive Gauche · documental de arte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5C"/>
                </a:solidFill>
                <a:latin typeface="Calibri"/>
              </a:rPr>
              <a:t>Óscar por Van Gogh (1950). Composiciones dinámicas, travellings y montaje para explorar las obras.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El film: dos bloques de obras descontextualizadas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10881360" cy="64008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F4F0E9"/>
                </a:solidFill>
                <a:latin typeface="Georgia"/>
              </a:rPr>
              <a:t>«Cuando los hombres mueren, se vuelven historia. Cuando las estatuas mueren, se vuelven arte.»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5349240" cy="5029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5349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Bloque I · Realeza y poder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50292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C08A3E"/>
                </a:solidFill>
                <a:latin typeface="Calibri"/>
              </a:rPr>
              <a:t>—  </a:t>
            </a:r>
            <a:r>
              <a:rPr sz="1400">
                <a:solidFill>
                  <a:srgbClr val="2A2724"/>
                </a:solidFill>
                <a:latin typeface="Calibri"/>
              </a:rPr>
              <a:t>Cabezas de oba (Reino de Benín) y de oni (Reino de Ife), Nigeria.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C08A3E"/>
                </a:solidFill>
                <a:latin typeface="Calibri"/>
              </a:rPr>
              <a:t>—  </a:t>
            </a:r>
            <a:r>
              <a:rPr sz="1400">
                <a:solidFill>
                  <a:srgbClr val="2A2724"/>
                </a:solidFill>
                <a:latin typeface="Calibri"/>
              </a:rPr>
              <a:t>Guerreros y leopardos de bronce de Benín.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C08A3E"/>
                </a:solidFill>
                <a:latin typeface="Calibri"/>
              </a:rPr>
              <a:t>—  </a:t>
            </a:r>
            <a:r>
              <a:rPr sz="1400">
                <a:solidFill>
                  <a:srgbClr val="2A2724"/>
                </a:solidFill>
                <a:latin typeface="Calibri"/>
              </a:rPr>
              <a:t>Montaje rítmico y fundidos: ¿colonizó Francia un pueblo «sin cultura»?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606040"/>
            <a:ext cx="5257800" cy="5029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606040"/>
            <a:ext cx="5257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Bloque II · Culto y ritual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4612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C08A3E"/>
                </a:solidFill>
                <a:latin typeface="Calibri"/>
              </a:rPr>
              <a:t>—  </a:t>
            </a:r>
            <a:r>
              <a:rPr sz="1400">
                <a:solidFill>
                  <a:srgbClr val="2A2724"/>
                </a:solidFill>
                <a:latin typeface="Calibri"/>
              </a:rPr>
              <a:t>Relicarios Kota (Gabón); tableros de adivinación Ifá, Yoruba (Nigeria).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C08A3E"/>
                </a:solidFill>
                <a:latin typeface="Calibri"/>
              </a:rPr>
              <a:t>—  </a:t>
            </a:r>
            <a:r>
              <a:rPr sz="1400">
                <a:solidFill>
                  <a:srgbClr val="2A2724"/>
                </a:solidFill>
                <a:latin typeface="Calibri"/>
              </a:rPr>
              <a:t>Reposacabezas Pende (R. D. del Congo); máscaras Dan (Costa de Marfil).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C08A3E"/>
                </a:solidFill>
                <a:latin typeface="Calibri"/>
              </a:rPr>
              <a:t>—  </a:t>
            </a:r>
            <a:r>
              <a:rPr sz="1400">
                <a:solidFill>
                  <a:srgbClr val="2A2724"/>
                </a:solidFill>
                <a:latin typeface="Calibri"/>
              </a:rPr>
              <a:t>Culto animista y a los ancestros; piezas sin contexto identificativo.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Forma fílmica: del documental de arte al ensayo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3520440" cy="45720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08A3E"/>
                </a:solidFill>
                <a:latin typeface="Calibri"/>
              </a:rPr>
              <a:t>Fotografía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A2724"/>
                </a:solidFill>
                <a:latin typeface="Calibri"/>
              </a:rPr>
              <a:t>Ghislain Cloquet expone las piezas sobre fondos neutros: detalle y, a la vez, refuerzo de su descontextualización.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82880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520440" cy="45720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82880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08A3E"/>
                </a:solidFill>
                <a:latin typeface="Calibri"/>
              </a:rPr>
              <a:t>Música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246888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A2724"/>
                </a:solidFill>
                <a:latin typeface="Calibri"/>
              </a:rPr>
              <a:t>Guy Bernard alterna lo familiar (europeo-americano) y lo «exótico-ritual», con momentos sincréticos.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82880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828800"/>
            <a:ext cx="3520440" cy="45720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82880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08A3E"/>
                </a:solidFill>
                <a:latin typeface="Calibri"/>
              </a:rPr>
              <a:t>Montaje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46888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A2724"/>
                </a:solidFill>
                <a:latin typeface="Calibri"/>
              </a:rPr>
              <a:t>Material de archivo (influencia de Esfir Shub): contrasta las «bondades» coloniales con su hipocresía.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434840"/>
            <a:ext cx="10881360" cy="14173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434840"/>
            <a:ext cx="128016" cy="14173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7200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¿Documental de arte o ensayo fílmico?</a:t>
            </a:r>
          </a:p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F4F0E9"/>
                </a:solidFill>
                <a:latin typeface="Calibri"/>
              </a:rPr>
              <a:t>Aunque por su forma parezca un documental de arte, Resnais y Marker lo exceden: la Rive Gauche desarrolla el ciné-essai, que aborda con ironía y firmeza la problemática colonial y la mirada racista aún vigente.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6583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Punto de inflexión: </a:t>
            </a:r>
            <a:r>
              <a:rPr sz="1550">
                <a:solidFill>
                  <a:srgbClr val="2A2724"/>
                </a:solidFill>
                <a:latin typeface="Calibri"/>
              </a:rPr>
              <a:t>el film supera los estándares del documental de arte y abre debate sobre identidad, poder colonial y pérdida de significados.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Tratamiento ontológico: </a:t>
            </a:r>
            <a:r>
              <a:rPr sz="1550">
                <a:solidFill>
                  <a:srgbClr val="2A2724"/>
                </a:solidFill>
                <a:latin typeface="Calibri"/>
              </a:rPr>
              <a:t>frente al cine etnográfico-expositivo, da voz a las historias reprimidas tras cada pieza.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Ensayo fílmico-crítico: </a:t>
            </a:r>
            <a:r>
              <a:rPr sz="1550">
                <a:solidFill>
                  <a:srgbClr val="2A2724"/>
                </a:solidFill>
                <a:latin typeface="Calibri"/>
              </a:rPr>
              <a:t>se confirma la hipótesis; la obra se alinea con la ensayística más que con la exposición.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Preguntas abiertas: </a:t>
            </a:r>
            <a:r>
              <a:rPr sz="1550">
                <a:solidFill>
                  <a:srgbClr val="2A2724"/>
                </a:solidFill>
                <a:latin typeface="Calibri"/>
              </a:rPr>
              <a:t>¿devolverá Occidente el patrimonio expoliado? ¿en qué condiciones? ¿está África preparada para conservarlo?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828800"/>
            <a:ext cx="4069080" cy="406908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0" y="1828800"/>
            <a:ext cx="4069080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2240280"/>
            <a:ext cx="3474720" cy="3474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1">
                <a:solidFill>
                  <a:srgbClr val="F4F0E9"/>
                </a:solidFill>
                <a:latin typeface="Georgia"/>
              </a:rPr>
              <a:t>«Cuando el documental de arte abandona la mera descripción para convertirse en una herramienta de pensamiento crítico, deja de explicar el mundo para empezar a cuestionarlo.»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128016" cy="10515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REFERENCIAS BIBLIOGRÁFICAS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2A2724"/>
                </a:solidFill>
                <a:latin typeface="Georgia"/>
              </a:rPr>
              <a:t>Referencias (selección)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Aliaga Cárceles, J. J. La revista Imágenes y la visión documental de NO-DO. Tesis doctoral, 2022.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Alter, N. M. Chris Marker. Urbana: University of Illinois Press, 2006.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Ceamanos, R. y Kabunda, M. El Reparto de África. Madrid: Los libros de la Catarata, 2016.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Fernández Cuenca, C. 30 años de documental de arte en España. Madrid: EOC, 1967.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Forni, S. y Steiner, C. B. «The African Art Market as Ego-System». Critical Interventions, 2018.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García Fernández, G. «La piel bajo las máscaras. Arte, política y ensayo en Les Statues meurent aussi», 2010.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García Peydró, G. El cine sobre arte. Santander: Shangrila, 2019.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Hamery, R. «Les films sur l'art d'Afrique noire (1945-1961)», en Le film sur l'art, 2015.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Lupton, C. Chris Marker, memories of the future. Londres: Reaktion, 2005.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Sarr, F. y Savoy, B. The Restitution of African Cultural Heritage. París, 2018.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Schäuble, M. «The Adventure of the Real. Jean Rouch...». Zeitschrift für Ethnologie, 2011.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b="1" sz="1200">
                <a:solidFill>
                  <a:srgbClr val="C08A3E"/>
                </a:solidFill>
              </a:rPr>
              <a:t>•  </a:t>
            </a:r>
            <a:r>
              <a:rPr sz="1150">
                <a:solidFill>
                  <a:srgbClr val="2A2724"/>
                </a:solidFill>
                <a:latin typeface="Calibri"/>
              </a:rPr>
              <a:t>Robert, V., Le Forestier, L. y Albera, F. Le film sur l'art. Rennes: PUR,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3112" cy="177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Georgia"/>
              </a:rPr>
              <a:t>Gracias por su atención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75504" y="3703320"/>
            <a:ext cx="1828800" cy="3175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C08A3E"/>
                </a:solidFill>
                <a:latin typeface="Calibri"/>
              </a:rPr>
              <a:t>Pedro José Díaz Bravo</a:t>
            </a:r>
          </a:p>
          <a:p>
            <a:pPr algn="ctr">
              <a:lnSpc>
                <a:spcPct val="110000"/>
              </a:lnSpc>
            </a:pPr>
            <a:r>
              <a:rPr sz="1300" b="0" i="1">
                <a:solidFill>
                  <a:srgbClr val="F4F0E9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  <a:p>
            <a:pPr algn="ctr">
              <a:spcBef>
                <a:spcPts val="600"/>
              </a:spcBef>
            </a:pPr>
            <a:r>
              <a:rPr sz="1100" b="0" i="0">
                <a:solidFill>
                  <a:srgbClr val="6B645C"/>
                </a:solidFill>
                <a:latin typeface="Calibri"/>
              </a:rPr>
              <a:t>Grado en Historia del Arte · Universidad de Murcia ·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